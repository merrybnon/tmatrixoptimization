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22C0B7-6F3B-4F91-8773-676DB0C8A706}" v="263" dt="2026-09-11T14:14:13.051"/>
    <p1510:client id="{988156D7-8217-408C-B025-C5E448FF486D}" v="1" dt="2026-09-11T15:09:54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Tunstall" userId="dd58baaffc8dbc56" providerId="LiveId" clId="{A3A84E56-8371-4FAE-9F82-13D705B43000}"/>
    <pc:docChg chg="custSel modSld">
      <pc:chgData name="Thomas Tunstall" userId="dd58baaffc8dbc56" providerId="LiveId" clId="{A3A84E56-8371-4FAE-9F82-13D705B43000}" dt="2026-09-11T15:09:54.808" v="2" actId="20577"/>
      <pc:docMkLst>
        <pc:docMk/>
      </pc:docMkLst>
      <pc:sldChg chg="modSp">
        <pc:chgData name="Thomas Tunstall" userId="dd58baaffc8dbc56" providerId="LiveId" clId="{A3A84E56-8371-4FAE-9F82-13D705B43000}" dt="2026-09-11T15:09:54.808" v="2" actId="20577"/>
        <pc:sldMkLst>
          <pc:docMk/>
          <pc:sldMk cId="676006830" sldId="260"/>
        </pc:sldMkLst>
        <pc:spChg chg="mod">
          <ac:chgData name="Thomas Tunstall" userId="dd58baaffc8dbc56" providerId="LiveId" clId="{A3A84E56-8371-4FAE-9F82-13D705B43000}" dt="2026-09-11T15:09:54.808" v="2" actId="20577"/>
          <ac:spMkLst>
            <pc:docMk/>
            <pc:sldMk cId="676006830" sldId="260"/>
            <ac:spMk id="3" creationId="{503DDB88-D5D2-D707-7370-50E0C04928E1}"/>
          </ac:spMkLst>
        </pc:spChg>
      </pc:sldChg>
      <pc:sldChg chg="modSp mod">
        <pc:chgData name="Thomas Tunstall" userId="dd58baaffc8dbc56" providerId="LiveId" clId="{A3A84E56-8371-4FAE-9F82-13D705B43000}" dt="2026-09-11T14:55:21.373" v="1" actId="27636"/>
        <pc:sldMkLst>
          <pc:docMk/>
          <pc:sldMk cId="3811567331" sldId="266"/>
        </pc:sldMkLst>
        <pc:spChg chg="mod">
          <ac:chgData name="Thomas Tunstall" userId="dd58baaffc8dbc56" providerId="LiveId" clId="{A3A84E56-8371-4FAE-9F82-13D705B43000}" dt="2026-09-11T14:55:21.373" v="1" actId="27636"/>
          <ac:spMkLst>
            <pc:docMk/>
            <pc:sldMk cId="3811567331" sldId="266"/>
            <ac:spMk id="3" creationId="{5D2DAAF3-B036-B9C7-2A34-D36505421BD8}"/>
          </ac:spMkLst>
        </pc:spChg>
      </pc:sldChg>
    </pc:docChg>
  </pc:docChgLst>
  <pc:docChgLst>
    <pc:chgData name="Thomas Tunstall" userId="dd58baaffc8dbc56" providerId="LiveId" clId="{BB4DC5B4-26ED-4C0D-9D49-AEE8D3697A5E}"/>
    <pc:docChg chg="custSel addSld modSld">
      <pc:chgData name="Thomas Tunstall" userId="dd58baaffc8dbc56" providerId="LiveId" clId="{BB4DC5B4-26ED-4C0D-9D49-AEE8D3697A5E}" dt="2026-09-11T14:17:42.929" v="2808" actId="27636"/>
      <pc:docMkLst>
        <pc:docMk/>
      </pc:docMkLst>
      <pc:sldChg chg="modSp mod">
        <pc:chgData name="Thomas Tunstall" userId="dd58baaffc8dbc56" providerId="LiveId" clId="{BB4DC5B4-26ED-4C0D-9D49-AEE8D3697A5E}" dt="2026-09-11T14:06:10.634" v="2165" actId="20577"/>
        <pc:sldMkLst>
          <pc:docMk/>
          <pc:sldMk cId="687063783" sldId="257"/>
        </pc:sldMkLst>
        <pc:spChg chg="mod">
          <ac:chgData name="Thomas Tunstall" userId="dd58baaffc8dbc56" providerId="LiveId" clId="{BB4DC5B4-26ED-4C0D-9D49-AEE8D3697A5E}" dt="2026-09-11T14:06:10.634" v="2165" actId="20577"/>
          <ac:spMkLst>
            <pc:docMk/>
            <pc:sldMk cId="687063783" sldId="257"/>
            <ac:spMk id="3" creationId="{89CE5780-39D8-C397-4F2D-E4A535B0291D}"/>
          </ac:spMkLst>
        </pc:spChg>
      </pc:sldChg>
      <pc:sldChg chg="modSp mod">
        <pc:chgData name="Thomas Tunstall" userId="dd58baaffc8dbc56" providerId="LiveId" clId="{BB4DC5B4-26ED-4C0D-9D49-AEE8D3697A5E}" dt="2026-09-11T12:21:52.954" v="711" actId="20577"/>
        <pc:sldMkLst>
          <pc:docMk/>
          <pc:sldMk cId="2543273493" sldId="263"/>
        </pc:sldMkLst>
        <pc:spChg chg="mod">
          <ac:chgData name="Thomas Tunstall" userId="dd58baaffc8dbc56" providerId="LiveId" clId="{BB4DC5B4-26ED-4C0D-9D49-AEE8D3697A5E}" dt="2026-09-11T12:21:52.954" v="711" actId="20577"/>
          <ac:spMkLst>
            <pc:docMk/>
            <pc:sldMk cId="2543273493" sldId="263"/>
            <ac:spMk id="3" creationId="{B006DADC-5323-176D-CE34-746FE1B9A938}"/>
          </ac:spMkLst>
        </pc:spChg>
      </pc:sldChg>
      <pc:sldChg chg="modSp add mod">
        <pc:chgData name="Thomas Tunstall" userId="dd58baaffc8dbc56" providerId="LiveId" clId="{BB4DC5B4-26ED-4C0D-9D49-AEE8D3697A5E}" dt="2026-09-11T12:34:28.156" v="1452" actId="20577"/>
        <pc:sldMkLst>
          <pc:docMk/>
          <pc:sldMk cId="793154582" sldId="264"/>
        </pc:sldMkLst>
        <pc:spChg chg="mod">
          <ac:chgData name="Thomas Tunstall" userId="dd58baaffc8dbc56" providerId="LiveId" clId="{BB4DC5B4-26ED-4C0D-9D49-AEE8D3697A5E}" dt="2026-09-11T12:34:28.156" v="1452" actId="20577"/>
          <ac:spMkLst>
            <pc:docMk/>
            <pc:sldMk cId="793154582" sldId="264"/>
            <ac:spMk id="3" creationId="{62D381A6-41D8-E4A8-2929-E59364C1E4B5}"/>
          </ac:spMkLst>
        </pc:spChg>
      </pc:sldChg>
      <pc:sldChg chg="modSp add mod">
        <pc:chgData name="Thomas Tunstall" userId="dd58baaffc8dbc56" providerId="LiveId" clId="{BB4DC5B4-26ED-4C0D-9D49-AEE8D3697A5E}" dt="2026-09-11T14:10:24.652" v="2212" actId="20577"/>
        <pc:sldMkLst>
          <pc:docMk/>
          <pc:sldMk cId="3168797682" sldId="265"/>
        </pc:sldMkLst>
        <pc:spChg chg="mod">
          <ac:chgData name="Thomas Tunstall" userId="dd58baaffc8dbc56" providerId="LiveId" clId="{BB4DC5B4-26ED-4C0D-9D49-AEE8D3697A5E}" dt="2026-09-11T14:02:58.292" v="1736" actId="20577"/>
          <ac:spMkLst>
            <pc:docMk/>
            <pc:sldMk cId="3168797682" sldId="265"/>
            <ac:spMk id="2" creationId="{33E8BD73-23BD-BCE8-1151-381A21B16B85}"/>
          </ac:spMkLst>
        </pc:spChg>
        <pc:spChg chg="mod">
          <ac:chgData name="Thomas Tunstall" userId="dd58baaffc8dbc56" providerId="LiveId" clId="{BB4DC5B4-26ED-4C0D-9D49-AEE8D3697A5E}" dt="2026-09-11T14:10:24.652" v="2212" actId="20577"/>
          <ac:spMkLst>
            <pc:docMk/>
            <pc:sldMk cId="3168797682" sldId="265"/>
            <ac:spMk id="3" creationId="{A7EFFD87-E319-8521-0F68-9CE4FB45A2FB}"/>
          </ac:spMkLst>
        </pc:spChg>
      </pc:sldChg>
      <pc:sldChg chg="modSp add mod">
        <pc:chgData name="Thomas Tunstall" userId="dd58baaffc8dbc56" providerId="LiveId" clId="{BB4DC5B4-26ED-4C0D-9D49-AEE8D3697A5E}" dt="2026-09-11T14:17:42.929" v="2808" actId="27636"/>
        <pc:sldMkLst>
          <pc:docMk/>
          <pc:sldMk cId="3811567331" sldId="266"/>
        </pc:sldMkLst>
        <pc:spChg chg="mod">
          <ac:chgData name="Thomas Tunstall" userId="dd58baaffc8dbc56" providerId="LiveId" clId="{BB4DC5B4-26ED-4C0D-9D49-AEE8D3697A5E}" dt="2026-09-11T14:10:08.019" v="2201" actId="20577"/>
          <ac:spMkLst>
            <pc:docMk/>
            <pc:sldMk cId="3811567331" sldId="266"/>
            <ac:spMk id="2" creationId="{E6EFF9A2-8569-68FF-0989-889C8F4A9094}"/>
          </ac:spMkLst>
        </pc:spChg>
        <pc:spChg chg="mod">
          <ac:chgData name="Thomas Tunstall" userId="dd58baaffc8dbc56" providerId="LiveId" clId="{BB4DC5B4-26ED-4C0D-9D49-AEE8D3697A5E}" dt="2026-09-11T14:17:42.929" v="2808" actId="27636"/>
          <ac:spMkLst>
            <pc:docMk/>
            <pc:sldMk cId="3811567331" sldId="266"/>
            <ac:spMk id="3" creationId="{5D2DAAF3-B036-B9C7-2A34-D36505421BD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EE30F-7861-DCD2-80C6-23D014319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109A5-19F0-E0C7-698F-907B2F784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DCFBB-E7BF-9DCF-1BE7-DAE421F7E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3BE3-4CA9-401F-B53E-A8C0DF37B6C4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A3126-4070-3A4A-36BE-CCBFBCEB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3E1F8-7135-5594-1335-6CB9EA10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45BE-8C55-4BB0-9F12-92124B8EDB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29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8046C-5967-FE5D-7681-2F9EC670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32FFE-2C77-AEF2-7974-48BB7CF4D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878E3-85A1-0A69-2810-3D9F731B1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3BE3-4CA9-401F-B53E-A8C0DF37B6C4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BA5D1-CD10-749C-8CB7-A4D94ABEA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1E076-D112-4527-29CC-FE3B6DF28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45BE-8C55-4BB0-9F12-92124B8EDB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932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74C7-3701-F4CD-7731-E1BD35324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936F2-5992-3D95-544D-33F12D368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DFA32-9A18-01B5-ECA3-02970BE4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3BE3-4CA9-401F-B53E-A8C0DF37B6C4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7F2D6-A21A-9EEE-A9DF-F6B5D445D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0DEEC-7659-95DE-A15E-DDD936F8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45BE-8C55-4BB0-9F12-92124B8EDB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84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439F-1330-02EE-DBB6-1189BFB2E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5A0A0-50FD-ECFC-AFD0-C65D40B04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6061A-BAF3-D523-54F9-3E1B067F8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CD232-EA90-C4AC-8849-7B7D7CE69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3BE3-4CA9-401F-B53E-A8C0DF37B6C4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0E8E0-0DCE-CBA7-6026-7B551E830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A9986-EA3B-E1C5-36E9-7C55320D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45BE-8C55-4BB0-9F12-92124B8EDB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00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C7986-99B6-D68E-2303-D93047F5F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A65A1-A917-C0DD-BC61-9970BA3DD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B23D4-BDB0-D9C8-E485-526764C29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069266-7B42-2FD2-42AD-C1A1384AA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3B5FA6-BAC3-3ADB-2031-52472738B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0D36EB-73E5-EB1E-E81F-14A04FEE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3BE3-4CA9-401F-B53E-A8C0DF37B6C4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4B1722-D213-7345-1F04-151C4C3DB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8635D7-8D48-FFA2-6A80-BF0BA98F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45BE-8C55-4BB0-9F12-92124B8EDB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4793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ACE77-8788-81FB-719C-614A1C0C3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BDCD5F-D317-2D6C-2419-F0ECA70EB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3BE3-4CA9-401F-B53E-A8C0DF37B6C4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894F6-43BA-3BFA-369D-C76BD33C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AFEDF-6A28-A3D3-FD0F-95E9A849C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45BE-8C55-4BB0-9F12-92124B8EDB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63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39C440-3806-F28D-8EF3-9852FAB08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3BE3-4CA9-401F-B53E-A8C0DF37B6C4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F467C8-221B-C266-CBE5-5F90799F9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2A3BD-6B79-CB5C-124C-F1EE51349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45BE-8C55-4BB0-9F12-92124B8EDB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386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DDDD2-72E0-A33A-B9E5-A4A18FA97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14C7-3DCD-B4CE-BF30-62EF9D276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D183E-6FF7-F796-92FC-2703398FE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A5CFD-3D0C-5537-9E5C-2B6E87144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3BE3-4CA9-401F-B53E-A8C0DF37B6C4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D1F59-09D5-B805-FC70-B729DC2F3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C8E28-62F2-5218-A9A2-781BB854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45BE-8C55-4BB0-9F12-92124B8EDB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73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9709-3714-554B-0EB2-AEC6DE17E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2B434D-DD00-AB59-C08A-B9C73EAEC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F2FFA-1A29-7CC9-A43D-929813CFF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D1E4E-DDA5-2725-BC13-E7799BF13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3BE3-4CA9-401F-B53E-A8C0DF37B6C4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DB172-9EC8-86B4-510C-38072CCF6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33423-1694-91B7-106C-4D06C897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45BE-8C55-4BB0-9F12-92124B8EDB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403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6C45E-A0DF-6103-5A68-216D0730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F8955-DDDF-F88E-D73D-99F159E71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B44BA-C32F-72C4-7031-9901803A1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3BE3-4CA9-401F-B53E-A8C0DF37B6C4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FD08E-33D3-B3EC-CA53-B958660D0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2AF5-7AC2-0C61-A9E2-6DBC56C3A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45BE-8C55-4BB0-9F12-92124B8EDB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508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485BDD-7CC2-29E0-CC26-4B54E0C62A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11BAF-E074-BA7E-F474-64AC19DF7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39291-B481-A7D5-403E-71D8C9B51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3BE3-4CA9-401F-B53E-A8C0DF37B6C4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2CB13-23B6-17ED-A70A-8BF64A549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B9CF9-05BF-C042-4BB0-DD7CF111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45BE-8C55-4BB0-9F12-92124B8EDB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61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853EC-BEEE-0A15-2800-FA36601FE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BCF53-25FC-767F-976C-705DE8F16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E4E81-89A3-2061-5AB8-9AA5412ED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E3BE3-4CA9-401F-B53E-A8C0DF37B6C4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85601-D082-5861-6DCB-82A425D69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D26B3-78A9-F8C0-1BE3-10D01DA8A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745BE-8C55-4BB0-9F12-92124B8EDB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89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2EDEE-A4E2-01DD-FDDF-3A931F1FCB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The ML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786EA8-7220-659C-0B14-E5CE0B3C1D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628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94C9-54FE-6F33-F16D-C94512E74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E5780-39D8-C397-4F2D-E4A535B02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aim is to predict the decay rate of </a:t>
            </a:r>
            <a:r>
              <a:rPr lang="en-GB" b="1" dirty="0"/>
              <a:t>heterozygosity</a:t>
            </a:r>
            <a:r>
              <a:rPr lang="en-GB" dirty="0"/>
              <a:t> for a given </a:t>
            </a:r>
            <a:r>
              <a:rPr lang="en-GB" b="1" dirty="0"/>
              <a:t>landscape. </a:t>
            </a:r>
            <a:r>
              <a:rPr lang="en-GB" dirty="0"/>
              <a:t>It takes a lot of time to calculate heterozygosity decay for a given landscape (21 hours for the 1000 data points we have now).</a:t>
            </a:r>
          </a:p>
          <a:p>
            <a:endParaRPr lang="en-GB" b="1" dirty="0"/>
          </a:p>
          <a:p>
            <a:r>
              <a:rPr lang="en-GB" dirty="0"/>
              <a:t>The carrying capacity is the same in each patch where individuals can live. There is no selection. Hence, the only way to distinguish two landscapes is the transition matrix, </a:t>
            </a:r>
            <a:r>
              <a:rPr lang="en-GB" b="1" dirty="0"/>
              <a:t>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7063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AEBFC-5FD6-D9B7-5435-EA8B3E7C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35902"/>
          </a:xfrm>
        </p:spPr>
        <p:txBody>
          <a:bodyPr/>
          <a:lstStyle/>
          <a:p>
            <a:r>
              <a:rPr lang="en-GB" dirty="0"/>
              <a:t>Input: Landscape Transition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140893-F075-591E-CB6E-A7410E46BD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7687" y="954158"/>
                <a:ext cx="7566991" cy="5222805"/>
              </a:xfrm>
            </p:spPr>
            <p:txBody>
              <a:bodyPr/>
              <a:lstStyle/>
              <a:p>
                <a:r>
                  <a:rPr lang="en-GB" dirty="0"/>
                  <a:t>For a transition matrix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the element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corresponds to the probability that an individual at node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migrates to node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. </a:t>
                </a:r>
              </a:p>
              <a:p>
                <a:endParaRPr lang="en-GB" dirty="0"/>
              </a:p>
              <a:p>
                <a:r>
                  <a:rPr lang="en-GB" dirty="0"/>
                  <a:t>For these </a:t>
                </a:r>
                <a:r>
                  <a:rPr lang="en-GB" dirty="0" err="1"/>
                  <a:t>CDMetaPop</a:t>
                </a:r>
                <a:r>
                  <a:rPr lang="en-GB" dirty="0"/>
                  <a:t> runs, I only allow one migration per year. So each year you can model the migration according to applying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to the vector of populations at each node,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GB" dirty="0"/>
                  <a:t>.</a:t>
                </a:r>
                <a:endParaRPr lang="en-GB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140893-F075-591E-CB6E-A7410E46BD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7687" y="954158"/>
                <a:ext cx="7566991" cy="5222805"/>
              </a:xfrm>
              <a:blipFill>
                <a:blip r:embed="rId2"/>
                <a:stretch>
                  <a:fillRect l="-1450" t="-1752" r="-17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59205F1-5C63-8EA3-5408-602D42E85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636" y="1690688"/>
            <a:ext cx="3973216" cy="390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301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EBFEC-CFAE-3E75-697F-B1B0F1CEF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3AD0D-0B4D-88CB-5ED1-C3D3B0FC0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35902"/>
          </a:xfrm>
        </p:spPr>
        <p:txBody>
          <a:bodyPr/>
          <a:lstStyle/>
          <a:p>
            <a:r>
              <a:rPr lang="en-GB" dirty="0"/>
              <a:t>Input: Landscape Transition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DDB88-D5D2-D707-7370-50E0C04928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7687" y="954158"/>
                <a:ext cx="7566991" cy="5625546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GB" dirty="0"/>
                  <a:t> is constructed in the following way:</a:t>
                </a:r>
              </a:p>
              <a:p>
                <a:pPr lvl="1"/>
                <a:r>
                  <a:rPr lang="en-GB" dirty="0"/>
                  <a:t>Distribute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GB" dirty="0"/>
                  <a:t> nodes randomly over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1×1</m:t>
                    </m:r>
                  </m:oMath>
                </a14:m>
                <a:r>
                  <a:rPr lang="en-GB" dirty="0"/>
                  <a:t> square.</a:t>
                </a:r>
              </a:p>
              <a:p>
                <a:pPr lvl="1"/>
                <a:r>
                  <a:rPr lang="en-GB" dirty="0"/>
                  <a:t>Construct a distance matrix between each node,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GB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We elected to choose a power-law type of dispersal, with power 4 (kind of arbitrarily – there’s a parameter of the resulting network which has a good spread). Thus we get </a:t>
                </a:r>
                <a:r>
                  <a:rPr lang="en-GB"/>
                  <a:t>the non-normalised </a:t>
                </a:r>
                <a:r>
                  <a:rPr lang="en-GB" dirty="0"/>
                  <a:t>matrix,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acc>
                  </m:oMath>
                </a14:m>
                <a:endParaRPr lang="en-GB" b="1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acc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acc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(note we assume that nobody stays put).</a:t>
                </a:r>
              </a:p>
              <a:p>
                <a:pPr lvl="1"/>
                <a:r>
                  <a:rPr lang="en-GB" dirty="0"/>
                  <a:t>Then we normalise each row to 1: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e>
                            </m:acc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GB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DDB88-D5D2-D707-7370-50E0C04928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7687" y="954158"/>
                <a:ext cx="7566991" cy="5625546"/>
              </a:xfrm>
              <a:blipFill>
                <a:blip r:embed="rId2"/>
                <a:stretch>
                  <a:fillRect t="-24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999E506-5A9F-0F9D-B327-EFD189A9E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636" y="1690688"/>
            <a:ext cx="3973216" cy="390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00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263DC-1E97-3F1D-B67E-5AD161D21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AF73-50A8-5C00-8607-3F15C689F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743745"/>
          </a:xfrm>
        </p:spPr>
        <p:txBody>
          <a:bodyPr/>
          <a:lstStyle/>
          <a:p>
            <a:r>
              <a:rPr lang="en-GB" dirty="0"/>
              <a:t>Output: Heterozygosity decay exponent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966BA5-A311-82C5-372A-26EC319E25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9148" y="761999"/>
                <a:ext cx="11214652" cy="588396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GB" dirty="0"/>
                  <a:t>Fisher-Wright statistics (NOT a perfect description) predict that for an isolated patch, the heterozygosity should decay like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sup>
                    </m:sSup>
                  </m:oMath>
                </a14:m>
                <a:r>
                  <a:rPr lang="en-GB" dirty="0"/>
                  <a:t>, where N is the effective population size in the patch.</a:t>
                </a:r>
              </a:p>
              <a:p>
                <a:pPr lvl="1"/>
                <a:r>
                  <a:rPr lang="en-GB" dirty="0"/>
                  <a:t>I instead fit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</m:oMath>
                </a14:m>
                <a:r>
                  <a:rPr lang="en-GB" dirty="0"/>
                  <a:t>, as I don’t think Population size is all that should matter. I call it the Heterozygosity decay exponent.</a:t>
                </a:r>
              </a:p>
              <a:p>
                <a:endParaRPr lang="en-GB" dirty="0"/>
              </a:p>
              <a:p>
                <a:r>
                  <a:rPr lang="en-GB" dirty="0"/>
                  <a:t>The carrying capacity of each node in our simulation is 100. Obviously with migration the population can and often drops to a lower deterministic result.</a:t>
                </a:r>
              </a:p>
              <a:p>
                <a:endParaRPr lang="en-GB" dirty="0"/>
              </a:p>
              <a:p>
                <a:r>
                  <a:rPr lang="en-GB" dirty="0"/>
                  <a:t>For a Landscape of 20 isolated patches, each should independently decay according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2×100 </m:t>
                            </m:r>
                          </m:den>
                        </m:f>
                      </m:sup>
                    </m:sSup>
                  </m:oMath>
                </a14:m>
                <a:r>
                  <a:rPr lang="en-GB" dirty="0"/>
                  <a:t>. Thus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n-GB" dirty="0"/>
              </a:p>
              <a:p>
                <a:r>
                  <a:rPr lang="en-GB" dirty="0"/>
                  <a:t>For a well-mixed landscape with equal migration to every node, we expect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2×20×100 </m:t>
                            </m:r>
                          </m:den>
                        </m:f>
                      </m:sup>
                    </m:sSup>
                  </m:oMath>
                </a14:m>
                <a:r>
                  <a:rPr lang="en-GB" dirty="0"/>
                  <a:t>. 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=2000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966BA5-A311-82C5-372A-26EC319E25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148" y="761999"/>
                <a:ext cx="11214652" cy="5883965"/>
              </a:xfrm>
              <a:blipFill>
                <a:blip r:embed="rId2"/>
                <a:stretch>
                  <a:fillRect l="-870" t="-1554" r="-924" b="-17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8495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FE837-F5D1-2A75-2546-A382636F9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10F37-546C-13F0-3045-602271927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743745"/>
          </a:xfrm>
        </p:spPr>
        <p:txBody>
          <a:bodyPr/>
          <a:lstStyle/>
          <a:p>
            <a:r>
              <a:rPr lang="en-GB" dirty="0"/>
              <a:t>Output: Heterozygosity decay exponent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F21C3-635A-3651-173B-D9D93B4DC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48" y="1040296"/>
            <a:ext cx="11214652" cy="1696278"/>
          </a:xfrm>
        </p:spPr>
        <p:txBody>
          <a:bodyPr>
            <a:normAutofit/>
          </a:bodyPr>
          <a:lstStyle/>
          <a:p>
            <a:r>
              <a:rPr lang="en-GB" dirty="0"/>
              <a:t>With a randomly connected landscape, I have yet to find a deterministic prediction for heterozygosity decay. But there is still an (approximate, in some cases) exponential decay  in heterozygosity. The result below is averaged over 20 repetitions, so there is a lot of noise.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C0E91A-B20A-D298-32D8-38C2C760C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871" y="2874099"/>
            <a:ext cx="5821883" cy="344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22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4219E-C14A-2137-4532-5C52DD1A6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4765"/>
          </a:xfrm>
        </p:spPr>
        <p:txBody>
          <a:bodyPr/>
          <a:lstStyle/>
          <a:p>
            <a:r>
              <a:rPr lang="en-GB" dirty="0"/>
              <a:t>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FE5D1B-8220-FCD9-B850-EAC27EC0C7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54765"/>
                <a:ext cx="10515600" cy="5784574"/>
              </a:xfrm>
            </p:spPr>
            <p:txBody>
              <a:bodyPr/>
              <a:lstStyle/>
              <a:p>
                <a:r>
                  <a:rPr lang="en-GB" dirty="0"/>
                  <a:t>So the model should be trained to find the relationship.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b="1" dirty="0"/>
              </a:p>
              <a:p>
                <a:pPr lvl="1"/>
                <a:endParaRPr lang="en-GB" b="1" dirty="0"/>
              </a:p>
              <a:p>
                <a:r>
                  <a:rPr lang="en-GB" dirty="0"/>
                  <a:t>I have generated 1000 data points, meaning 1000 landscapes and an output measured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(extracted over 20 repeats, again).</a:t>
                </a:r>
              </a:p>
              <a:p>
                <a:endParaRPr lang="en-GB" dirty="0"/>
              </a:p>
              <a:p>
                <a:r>
                  <a:rPr lang="en-GB" dirty="0"/>
                  <a:t>Because of the vast amounts of space that the output consumes, I have constructed a batch-process where the data is deleted after being read. For now, all I retain is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for each simulation – in the future I recognise I should extract the entire curves of each repeat as well.</a:t>
                </a:r>
              </a:p>
              <a:p>
                <a:endParaRPr lang="en-GB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FE5D1B-8220-FCD9-B850-EAC27EC0C7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54765"/>
                <a:ext cx="10515600" cy="5784574"/>
              </a:xfrm>
              <a:blipFill>
                <a:blip r:embed="rId2"/>
                <a:stretch>
                  <a:fillRect l="-1043" t="-1791" r="-15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717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1899B-11B1-8874-10ED-A458940B0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80372-C6CC-A6E4-A53F-A48B645B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4765"/>
          </a:xfrm>
        </p:spPr>
        <p:txBody>
          <a:bodyPr/>
          <a:lstStyle/>
          <a:p>
            <a:r>
              <a:rPr lang="en-GB" dirty="0"/>
              <a:t>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06DADC-5323-176D-CE34-746FE1B9A9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54765"/>
                <a:ext cx="10515600" cy="578457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An important aspect of the landscapes is that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is not unique. It can be permuted under a simple relabelling of nodes with a permutation matrix,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GB" dirty="0"/>
                  <a:t>. </a:t>
                </a:r>
              </a:p>
              <a:p>
                <a:endParaRPr lang="en-GB" b="1" dirty="0"/>
              </a:p>
              <a:p>
                <a:r>
                  <a:rPr lang="en-GB" dirty="0"/>
                  <a:t>Thus, there should be an equivalence  for the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which maps transition matrix to decay exponent: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𝑷𝑻</m:t>
                        </m:r>
                        <m:sSup>
                          <m:sSup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b="1" dirty="0"/>
                  <a:t>, </a:t>
                </a:r>
                <a:r>
                  <a:rPr lang="en-GB" dirty="0"/>
                  <a:t>for any choice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b="1" dirty="0"/>
              </a:p>
              <a:p>
                <a:endParaRPr lang="en-GB" dirty="0"/>
              </a:p>
              <a:p>
                <a:r>
                  <a:rPr lang="en-GB" dirty="0"/>
                  <a:t>So we have some options in the way we can represent the Landscape. This has two possible applications:</a:t>
                </a:r>
              </a:p>
              <a:p>
                <a:pPr lvl="1"/>
                <a:r>
                  <a:rPr lang="en-GB" dirty="0"/>
                  <a:t>Data augmentation: Similar to Hudson’s previous work, we can ‘shift’ the input to the same output, effectively giving more training input so the model learns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𝑷𝑻</m:t>
                        </m:r>
                        <m:sSup>
                          <m:sSup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We can present the data in a way such that ‘special’ nodes are presented first, which may help the model learn.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06DADC-5323-176D-CE34-746FE1B9A9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54765"/>
                <a:ext cx="10515600" cy="5784574"/>
              </a:xfrm>
              <a:blipFill>
                <a:blip r:embed="rId2"/>
                <a:stretch>
                  <a:fillRect l="-928" t="-2107" r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273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22AD7-72B2-5471-088F-3229FE7D5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59E8-D5E8-D72F-4834-C9B22C026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4765"/>
          </a:xfrm>
        </p:spPr>
        <p:txBody>
          <a:bodyPr/>
          <a:lstStyle/>
          <a:p>
            <a:r>
              <a:rPr lang="en-GB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381A6-41D8-E4A8-2929-E59364C1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765"/>
            <a:ext cx="10515600" cy="5784574"/>
          </a:xfrm>
        </p:spPr>
        <p:txBody>
          <a:bodyPr>
            <a:normAutofit/>
          </a:bodyPr>
          <a:lstStyle/>
          <a:p>
            <a:r>
              <a:rPr lang="en-GB" dirty="0"/>
              <a:t>I have a data_format.py script. It is executed with:</a:t>
            </a:r>
          </a:p>
          <a:p>
            <a:pPr lvl="1"/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run data_format.py -d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SaveFiles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/n20_ProbDist_Power_param1_4_repeats_1000/ -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shufflenum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</a:p>
          <a:p>
            <a:endParaRPr lang="en-GB" dirty="0">
              <a:cs typeface="Courier New" panose="02070309020205020404" pitchFamily="49" charset="0"/>
            </a:endParaRPr>
          </a:p>
          <a:p>
            <a:r>
              <a:rPr lang="en-GB" dirty="0">
                <a:cs typeface="Courier New" panose="02070309020205020404" pitchFamily="49" charset="0"/>
              </a:rPr>
              <a:t>This targets the original output,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Analysis_Results.npz</a:t>
            </a:r>
            <a:r>
              <a:rPr lang="en-GB" dirty="0">
                <a:cs typeface="Courier New" panose="02070309020205020404" pitchFamily="49" charset="0"/>
              </a:rPr>
              <a:t>, and outputs two files: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Analysis_Results_Shuffled.npz</a:t>
            </a:r>
            <a:r>
              <a:rPr lang="en-GB" dirty="0">
                <a:cs typeface="Courier New" panose="02070309020205020404" pitchFamily="49" charset="0"/>
              </a:rPr>
              <a:t>: Returns a list of Transition Matrices and their corresponding decay exponents, where each Transition Matrix have been shuffled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shuffle_num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cs typeface="Courier New" panose="02070309020205020404" pitchFamily="49" charset="0"/>
              </a:rPr>
              <a:t>times. This basically multiples the data by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shuffle_num</a:t>
            </a:r>
            <a:r>
              <a:rPr lang="en-GB" dirty="0">
                <a:cs typeface="Courier New" panose="02070309020205020404" pitchFamily="49" charset="0"/>
              </a:rPr>
              <a:t>. </a:t>
            </a:r>
          </a:p>
          <a:p>
            <a:pPr marL="457200" lvl="1" indent="0">
              <a:buNone/>
            </a:pPr>
            <a:endParaRPr lang="en-GB" dirty="0">
              <a:cs typeface="Courier New" panose="02070309020205020404" pitchFamily="49" charset="0"/>
            </a:endParaRP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Analysis_Results_Sorted.npz</a:t>
            </a:r>
            <a:r>
              <a:rPr lang="en-GB" dirty="0">
                <a:cs typeface="Courier New" panose="02070309020205020404" pitchFamily="49" charset="0"/>
              </a:rPr>
              <a:t>: Each Transition Matrix is sorted such that the first node has the largest input from other nodes (the largest column sum), and his decreases with increasing node number.</a:t>
            </a:r>
          </a:p>
          <a:p>
            <a:pPr lvl="1"/>
            <a:endParaRPr lang="en-GB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154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98C94-6429-B546-EA95-93C08CB39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8BD73-23BD-BCE8-1151-381A21B1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4765"/>
          </a:xfrm>
        </p:spPr>
        <p:txBody>
          <a:bodyPr/>
          <a:lstStyle/>
          <a:p>
            <a:r>
              <a:rPr lang="en-GB" dirty="0"/>
              <a:t>Data: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FFD87-E319-8521-0F68-9CE4FB45A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765"/>
            <a:ext cx="10515600" cy="5784574"/>
          </a:xfrm>
        </p:spPr>
        <p:txBody>
          <a:bodyPr>
            <a:normAutofit/>
          </a:bodyPr>
          <a:lstStyle/>
          <a:p>
            <a:r>
              <a:rPr lang="en-GB" dirty="0">
                <a:cs typeface="Courier New" panose="02070309020205020404" pitchFamily="49" charset="0"/>
              </a:rPr>
              <a:t>Normalisation: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Each Transition Matrix has elements necessarily less than 1, and the decay exponent should be around 100 to 2000. So I think the decay exponent should be logged for the sake of clean output.</a:t>
            </a:r>
          </a:p>
          <a:p>
            <a:pPr marL="0" indent="0">
              <a:buNone/>
            </a:pPr>
            <a:endParaRPr lang="en-GB" dirty="0">
              <a:cs typeface="Courier New" panose="02070309020205020404" pitchFamily="49" charset="0"/>
            </a:endParaRPr>
          </a:p>
          <a:p>
            <a:r>
              <a:rPr lang="en-GB" dirty="0">
                <a:cs typeface="Courier New" panose="02070309020205020404" pitchFamily="49" charset="0"/>
              </a:rPr>
              <a:t>The data is inherently noisy due to the stochasticity. Therefore the fitting is not necessarily great: indeed, we sometimes get decay exponents larger and smaller than the predicted maximum and minimum predicted.</a:t>
            </a:r>
          </a:p>
          <a:p>
            <a:endParaRPr lang="en-GB" dirty="0">
              <a:cs typeface="Courier New" panose="02070309020205020404" pitchFamily="49" charset="0"/>
            </a:endParaRPr>
          </a:p>
          <a:p>
            <a:r>
              <a:rPr lang="en-GB" dirty="0">
                <a:cs typeface="Courier New" panose="02070309020205020404" pitchFamily="49" charset="0"/>
              </a:rPr>
              <a:t>The input Transition Matrices are necessarily size 20x20. This means that there are 400 inputs per output, but only 1000 data points. I suspect this is not enough.</a:t>
            </a:r>
          </a:p>
          <a:p>
            <a:endParaRPr lang="en-GB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797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9C848-EA2C-9A50-55FC-243AF3705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FF9A2-8569-68FF-0989-889C8F4A9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4765"/>
          </a:xfrm>
        </p:spPr>
        <p:txBody>
          <a:bodyPr/>
          <a:lstStyle/>
          <a:p>
            <a:r>
              <a:rPr lang="en-GB" dirty="0"/>
              <a:t>Input: Alternative representations?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2DAAF3-B036-B9C7-2A34-D36505421B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791" y="854765"/>
                <a:ext cx="10337551" cy="5784574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cs typeface="Courier New" panose="02070309020205020404" pitchFamily="49" charset="0"/>
                  </a:rPr>
                  <a:t>Instead of inputting the transition matrix, 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cs typeface="Courier New" panose="02070309020205020404" pitchFamily="49" charset="0"/>
                  </a:rPr>
                  <a:t>, is there another informative, but not overly detailed, summary statistic to try?</a:t>
                </a:r>
              </a:p>
              <a:p>
                <a:endParaRPr lang="en-GB" dirty="0">
                  <a:cs typeface="Courier New" panose="02070309020205020404" pitchFamily="49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cs typeface="Courier New" panose="02070309020205020404" pitchFamily="49" charset="0"/>
                  </a:rPr>
                  <a:t>Maybe just a set of the node coordinates. This will only scale by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𝑛</m:t>
                    </m:r>
                  </m:oMath>
                </a14:m>
                <a:r>
                  <a:rPr lang="en-GB" dirty="0">
                    <a:cs typeface="Courier New" panose="02070309020205020404" pitchFamily="49" charset="0"/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cs typeface="Courier New" panose="02070309020205020404" pitchFamily="49" charset="0"/>
                  </a:rPr>
                  <a:t>My favourite is to instead input features of the transition matrix, so for any network size the input is constant. For example the: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GB" dirty="0">
                    <a:cs typeface="Courier New" panose="02070309020205020404" pitchFamily="49" charset="0"/>
                  </a:rPr>
                  <a:t>Number of nodes,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GB" dirty="0">
                    <a:cs typeface="Courier New" panose="02070309020205020404" pitchFamily="49" charset="0"/>
                  </a:rPr>
                  <a:t>Mixing time,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GB" dirty="0">
                    <a:cs typeface="Courier New" panose="02070309020205020404" pitchFamily="49" charset="0"/>
                  </a:rPr>
                  <a:t>Conductance,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GB" dirty="0">
                    <a:cs typeface="Courier New" panose="02070309020205020404" pitchFamily="49" charset="0"/>
                  </a:rPr>
                  <a:t>Kemeny Constant</a:t>
                </a: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endParaRPr lang="en-GB" dirty="0"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2DAAF3-B036-B9C7-2A34-D36505421B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791" y="854765"/>
                <a:ext cx="10337551" cy="5784574"/>
              </a:xfrm>
              <a:blipFill>
                <a:blip r:embed="rId2"/>
                <a:stretch>
                  <a:fillRect l="-1179" t="-1686" r="-15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1567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D444BEB9C4264CB988B4152A0EED48" ma:contentTypeVersion="14" ma:contentTypeDescription="Create a new document." ma:contentTypeScope="" ma:versionID="9a5e012dc7526b2a3ea4f7ecd95aa9fe">
  <xsd:schema xmlns:xsd="http://www.w3.org/2001/XMLSchema" xmlns:xs="http://www.w3.org/2001/XMLSchema" xmlns:p="http://schemas.microsoft.com/office/2006/metadata/properties" xmlns:ns2="cc692e29-1fe2-4311-bfba-0e154424dc27" xmlns:ns3="8c296114-95c3-4ab1-9e12-83f107304c38" targetNamespace="http://schemas.microsoft.com/office/2006/metadata/properties" ma:root="true" ma:fieldsID="b2c91c1b9f2960f05576ad53c7e73e15" ns2:_="" ns3:_="">
    <xsd:import namespace="cc692e29-1fe2-4311-bfba-0e154424dc27"/>
    <xsd:import namespace="8c296114-95c3-4ab1-9e12-83f107304c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692e29-1fe2-4311-bfba-0e154424dc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103e67f-0598-4a90-8a4a-cec34b03bf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296114-95c3-4ab1-9e12-83f107304c3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e403344-0b62-4f36-902a-c1044abf91a7}" ma:internalName="TaxCatchAll" ma:showField="CatchAllData" ma:web="8c296114-95c3-4ab1-9e12-83f107304c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c692e29-1fe2-4311-bfba-0e154424dc27">
      <Terms xmlns="http://schemas.microsoft.com/office/infopath/2007/PartnerControls"/>
    </lcf76f155ced4ddcb4097134ff3c332f>
    <TaxCatchAll xmlns="8c296114-95c3-4ab1-9e12-83f107304c38" xsi:nil="true"/>
  </documentManagement>
</p:properties>
</file>

<file path=customXml/itemProps1.xml><?xml version="1.0" encoding="utf-8"?>
<ds:datastoreItem xmlns:ds="http://schemas.openxmlformats.org/officeDocument/2006/customXml" ds:itemID="{CC1EC0FA-B068-41F4-A70D-6B7C21749F70}"/>
</file>

<file path=customXml/itemProps2.xml><?xml version="1.0" encoding="utf-8"?>
<ds:datastoreItem xmlns:ds="http://schemas.openxmlformats.org/officeDocument/2006/customXml" ds:itemID="{D5F86395-395F-456D-BBF2-934E20EA43FA}"/>
</file>

<file path=customXml/itemProps3.xml><?xml version="1.0" encoding="utf-8"?>
<ds:datastoreItem xmlns:ds="http://schemas.openxmlformats.org/officeDocument/2006/customXml" ds:itemID="{A03A84FB-7F3C-435B-85F9-FCA1CDCF2AEE}"/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1025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Courier New</vt:lpstr>
      <vt:lpstr>Office Theme</vt:lpstr>
      <vt:lpstr>The ML Problem</vt:lpstr>
      <vt:lpstr>Problem Formulation</vt:lpstr>
      <vt:lpstr>Input: Landscape Transition Matrix</vt:lpstr>
      <vt:lpstr>Input: Landscape Transition Matrix</vt:lpstr>
      <vt:lpstr>Output: Heterozygosity decay exponent</vt:lpstr>
      <vt:lpstr>Output: Heterozygosity decay exponent</vt:lpstr>
      <vt:lpstr>Data</vt:lpstr>
      <vt:lpstr>Data</vt:lpstr>
      <vt:lpstr>Data</vt:lpstr>
      <vt:lpstr>Data: Issues</vt:lpstr>
      <vt:lpstr>Input: Alternative representations?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Tunstall</dc:creator>
  <cp:lastModifiedBy>Thomas Tunstall</cp:lastModifiedBy>
  <cp:revision>1</cp:revision>
  <dcterms:created xsi:type="dcterms:W3CDTF">2026-09-11T09:58:01Z</dcterms:created>
  <dcterms:modified xsi:type="dcterms:W3CDTF">2026-09-11T15:10:04Z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0x01010072D444BEB9C4264CB988B4152A0EED48</vt:lpwstr>
  </property>
</Properties>
</file>